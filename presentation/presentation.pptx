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1"/>
  </p:sld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</p:sldIdLst>
  <p:sldSz cx="12192000" cy="6858000" type="widescreen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8.xml"/><Relationship Id="rId9" Type="http://schemas.openxmlformats.org/officeDocument/2006/relationships/slide" Target="slides/slide9.xml"/><Relationship Id="rId10" Type="http://schemas.openxmlformats.org/officeDocument/2006/relationships/slide" Target="slides/slide10.xml"/>
  <Relationship Id="rId11" Type="http://schemas.openxmlformats.org/officeDocument/2006/relationships/slideMaster" Target="slideMasters/slideMaster1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Blank"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png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9.png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F6A3D"/>
          </a:solidFill>
        </p:spPr>
      </p:sp>
      <p:sp>
        <p:nvSpPr>
          <p:cNvPr id="3" name="Kicker"/>
          <p:cNvSpPr txBox="1"/>
          <p:nvPr/>
        </p:nvSpPr>
        <p:spPr>
          <a:xfrm>
            <a:off x="502920" y="1234440"/>
            <a:ext cx="512064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600" b="1" dirty="0">
                <a:solidFill>
                  <a:srgbClr val="FF6A3D"/>
                </a:solidFill>
                <a:latin typeface="Calibri"/>
                <a:ea typeface="Calibri"/>
                <a:cs typeface="Calibri"/>
              </a:rPr>
              <a:t>RESILIA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502920" y="1691640"/>
            <a:ext cx="5212080" cy="16459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3600" b="1" dirty="0">
                <a:solidFill>
                  <a:srgbClr val="F4F1EA"/>
                </a:solidFill>
                <a:latin typeface="Calibri"/>
                <a:ea typeface="Calibri"/>
                <a:cs typeface="Calibri"/>
              </a:rPr>
              <a:t>What happens if a wildfire starts here?</a:t>
            </a:r>
          </a:p>
        </p:txBody>
      </p:sp>
      <p:sp>
        <p:nvSpPr>
          <p:cNvPr id="5" name="Body"/>
          <p:cNvSpPr txBox="1"/>
          <p:nvPr/>
        </p:nvSpPr>
        <p:spPr>
          <a:xfrm>
            <a:off x="502920" y="3657600"/>
            <a:ext cx="5120640" cy="20116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800" b="0" dirty="0">
                <a:solidFill>
                  <a:srgbClr val="C5CDD4"/>
                </a:solidFill>
                <a:latin typeface="Calibri"/>
                <a:ea typeface="Calibri"/>
                <a:cs typeface="Calibri"/>
              </a:rPr>
              <a:t>A digital twin of a demo town, Cedar Ridge.</a:t>
            </a:r>
          </a:p>
          <a:p>
            <a:pPr algn="l"/>
            <a:r>
              <a:rPr lang="en-US" sz="1800" b="0" dirty="0">
                <a:solidFill>
                  <a:srgbClr val="C5CDD4"/>
                </a:solidFill>
                <a:latin typeface="Calibri"/>
                <a:ea typeface="Calibri"/>
                <a:cs typeface="Calibri"/>
              </a:rPr>
              <a:t>Choose where the fire starts and how bad the day is.</a:t>
            </a:r>
          </a:p>
          <a:p>
            <a:pPr algn="l"/>
            <a:r>
              <a:rPr lang="en-US" sz="1800" b="0" dirty="0">
                <a:solidFill>
                  <a:srgbClr val="C5CDD4"/>
                </a:solidFill>
                <a:latin typeface="Calibri"/>
                <a:ea typeface="Calibri"/>
                <a:cs typeface="Calibri"/>
              </a:rPr>
              <a:t>The app plays the next hour. The same settings always produce the same hour.</a:t>
            </a:r>
          </a:p>
        </p:txBody>
      </p:sp>
      <p:pic>
        <p:nvPicPr>
          <p:cNvPr id="6" name="01-land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7880" y="1382523"/>
            <a:ext cx="5806440" cy="409295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F6A3D"/>
          </a:solidFill>
        </p:spPr>
      </p:sp>
      <p:sp>
        <p:nvSpPr>
          <p:cNvPr id="3" name="Title"/>
          <p:cNvSpPr txBox="1"/>
          <p:nvPr/>
        </p:nvSpPr>
        <p:spPr>
          <a:xfrm>
            <a:off x="384048" y="201168"/>
            <a:ext cx="11338560" cy="43891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2600" b="1" dirty="0">
                <a:solidFill>
                  <a:srgbClr val="F4F1EA"/>
                </a:solidFill>
                <a:latin typeface="Calibri"/>
                <a:ea typeface="Calibri"/>
                <a:cs typeface="Calibri"/>
              </a:rPr>
              <a:t>The town at the first minute</a:t>
            </a:r>
          </a:p>
        </p:txBody>
      </p:sp>
      <p:sp>
        <p:nvSpPr>
          <p:cNvPr id="5" name="Caption"/>
          <p:cNvSpPr txBox="1"/>
          <p:nvPr/>
        </p:nvSpPr>
        <p:spPr>
          <a:xfrm>
            <a:off x="384048" y="6144768"/>
            <a:ext cx="11338560" cy="56692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300" b="0" dirty="0">
                <a:solidFill>
                  <a:srgbClr val="8B969E"/>
                </a:solidFill>
                <a:latin typeface="Calibri"/>
                <a:ea typeface="Calibri"/>
                <a:cs typeface="Calibri"/>
              </a:rPr>
              <a:t>Authority view. Ignition on the ridgeline forest edge. Wind NE, high and dry, severity severe. Clearance is 29 min. The fire is still a point.</a:t>
            </a:r>
          </a:p>
        </p:txBody>
      </p:sp>
      <p:pic>
        <p:nvPicPr>
          <p:cNvPr id="6" name="02-igni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7067" y="749808"/>
            <a:ext cx="8245675" cy="5257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F6A3D"/>
          </a:solidFill>
        </p:spPr>
      </p:sp>
      <p:sp>
        <p:nvSpPr>
          <p:cNvPr id="3" name="Title"/>
          <p:cNvSpPr txBox="1"/>
          <p:nvPr/>
        </p:nvSpPr>
        <p:spPr>
          <a:xfrm>
            <a:off x="384048" y="201168"/>
            <a:ext cx="11338560" cy="43891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2600" b="1" dirty="0">
                <a:solidFill>
                  <a:srgbClr val="F4F1EA"/>
                </a:solidFill>
                <a:latin typeface="Calibri"/>
                <a:ea typeface="Calibri"/>
                <a:cs typeface="Calibri"/>
              </a:rPr>
              <a:t>Fifteen minutes later</a:t>
            </a:r>
          </a:p>
        </p:txBody>
      </p:sp>
      <p:sp>
        <p:nvSpPr>
          <p:cNvPr id="5" name="Caption"/>
          <p:cNvSpPr txBox="1"/>
          <p:nvPr/>
        </p:nvSpPr>
        <p:spPr>
          <a:xfrm>
            <a:off x="384048" y="6144768"/>
            <a:ext cx="11338560" cy="56692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300" b="0" dirty="0">
                <a:solidFill>
                  <a:srgbClr val="8B969E"/>
                </a:solidFill>
                <a:latin typeface="Calibri"/>
                <a:ea typeface="Calibri"/>
                <a:cs typeface="Calibri"/>
              </a:rPr>
              <a:t>T+15. 19.3 ha burned, perimeter 1.6 km, about 20 m/min. Roads average 21 km/h, with 3 bottlenecks. Clearance is 25 min. One road is blocked and 468 people are stranded.</a:t>
            </a:r>
          </a:p>
        </p:txBody>
      </p:sp>
      <p:pic>
        <p:nvPicPr>
          <p:cNvPr id="6" name="03-fifteen-minu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7067" y="749808"/>
            <a:ext cx="8245675" cy="5257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F6A3D"/>
          </a:solidFill>
        </p:spPr>
      </p:sp>
      <p:sp>
        <p:nvSpPr>
          <p:cNvPr id="3" name="Title"/>
          <p:cNvSpPr txBox="1"/>
          <p:nvPr/>
        </p:nvSpPr>
        <p:spPr>
          <a:xfrm>
            <a:off x="384048" y="201168"/>
            <a:ext cx="11338560" cy="43891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2600" b="1" dirty="0">
                <a:solidFill>
                  <a:srgbClr val="F4F1EA"/>
                </a:solidFill>
                <a:latin typeface="Calibri"/>
                <a:ea typeface="Calibri"/>
                <a:cs typeface="Calibri"/>
              </a:rPr>
              <a:t>The town number hides the split</a:t>
            </a:r>
          </a:p>
        </p:txBody>
      </p:sp>
      <p:sp>
        <p:nvSpPr>
          <p:cNvPr id="5" name="Caption"/>
          <p:cNvSpPr txBox="1"/>
          <p:nvPr/>
        </p:nvSpPr>
        <p:spPr>
          <a:xfrm>
            <a:off x="384048" y="6144768"/>
            <a:ext cx="11338560" cy="56692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300" b="0" dirty="0">
                <a:solidFill>
                  <a:srgbClr val="8B969E"/>
                </a:solidFill>
                <a:latin typeface="Calibri"/>
                <a:ea typeface="Calibri"/>
                <a:cs typeface="Calibri"/>
              </a:rPr>
              <a:t>Ridgeline still has 468 people and a blocked route, about 75 min. Creekside has 76 left and an open road, about 2 min. Town Center is on warning, with its order at T+16.</a:t>
            </a:r>
          </a:p>
        </p:txBody>
      </p:sp>
      <p:pic>
        <p:nvPicPr>
          <p:cNvPr id="6" name="04-breakdow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7067" y="749808"/>
            <a:ext cx="8245675" cy="5257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F6A3D"/>
          </a:solidFill>
        </p:spPr>
      </p:sp>
      <p:sp>
        <p:nvSpPr>
          <p:cNvPr id="3" name="Title"/>
          <p:cNvSpPr txBox="1"/>
          <p:nvPr/>
        </p:nvSpPr>
        <p:spPr>
          <a:xfrm>
            <a:off x="384048" y="201168"/>
            <a:ext cx="11338560" cy="43891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2600" b="1" dirty="0">
                <a:solidFill>
                  <a:srgbClr val="F4F1EA"/>
                </a:solidFill>
                <a:latin typeface="Calibri"/>
                <a:ea typeface="Calibri"/>
                <a:cs typeface="Calibri"/>
              </a:rPr>
              <a:t>Send Engine 01 to the fire</a:t>
            </a:r>
          </a:p>
        </p:txBody>
      </p:sp>
      <p:sp>
        <p:nvSpPr>
          <p:cNvPr id="5" name="Caption"/>
          <p:cNvSpPr txBox="1"/>
          <p:nvPr/>
        </p:nvSpPr>
        <p:spPr>
          <a:xfrm>
            <a:off x="384048" y="6144768"/>
            <a:ext cx="11338560" cy="56692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300" b="0" dirty="0">
                <a:solidFill>
                  <a:srgbClr val="8B969E"/>
                </a:solidFill>
                <a:latin typeface="Calibri"/>
                <a:ea typeface="Calibri"/>
                <a:cs typeface="Calibri"/>
              </a:rPr>
              <a:t>Deployed at T+15 to the active fire front. ETA 17:37, and the route uses a closed road. Playback carried the engine to the front. The captured frame is on scene at T+41.</a:t>
            </a:r>
          </a:p>
        </p:txBody>
      </p:sp>
      <p:pic>
        <p:nvPicPr>
          <p:cNvPr id="6" name="05-engine-deploy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7067" y="749808"/>
            <a:ext cx="8245675" cy="5257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F6A3D"/>
          </a:solidFill>
        </p:spPr>
      </p:sp>
      <p:sp>
        <p:nvSpPr>
          <p:cNvPr id="3" name="Title"/>
          <p:cNvSpPr txBox="1"/>
          <p:nvPr/>
        </p:nvSpPr>
        <p:spPr>
          <a:xfrm>
            <a:off x="384048" y="201168"/>
            <a:ext cx="11338560" cy="43891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2600" b="1" dirty="0">
                <a:solidFill>
                  <a:srgbClr val="F4F1EA"/>
                </a:solidFill>
                <a:latin typeface="Calibri"/>
                <a:ea typeface="Calibri"/>
                <a:cs typeface="Calibri"/>
              </a:rPr>
              <a:t>Save that hour</a:t>
            </a:r>
          </a:p>
        </p:txBody>
      </p:sp>
      <p:sp>
        <p:nvSpPr>
          <p:cNvPr id="5" name="Caption"/>
          <p:cNvSpPr txBox="1"/>
          <p:nvPr/>
        </p:nvSpPr>
        <p:spPr>
          <a:xfrm>
            <a:off x="384048" y="6144768"/>
            <a:ext cx="11338560" cy="56692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300" b="0" dirty="0">
                <a:solidFill>
                  <a:srgbClr val="8B969E"/>
                </a:solidFill>
                <a:latin typeface="Calibri"/>
                <a:ea typeface="Calibri"/>
                <a:cs typeface="Calibri"/>
              </a:rPr>
              <a:t>Saved as NE wind, severe, ridgeline forest edge, T+15. The row shows 19.3 ha, 25 min clearance, 42% evacuated, and Engine 01 deployed.</a:t>
            </a:r>
          </a:p>
        </p:txBody>
      </p:sp>
      <p:pic>
        <p:nvPicPr>
          <p:cNvPr id="6" name="06-saved-seve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7067" y="749808"/>
            <a:ext cx="8245675" cy="5257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F6A3D"/>
          </a:solidFill>
        </p:spPr>
      </p:sp>
      <p:sp>
        <p:nvSpPr>
          <p:cNvPr id="3" name="Title"/>
          <p:cNvSpPr txBox="1"/>
          <p:nvPr/>
        </p:nvSpPr>
        <p:spPr>
          <a:xfrm>
            <a:off x="384048" y="201168"/>
            <a:ext cx="11338560" cy="43891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2600" b="1" dirty="0">
                <a:solidFill>
                  <a:srgbClr val="F4F1EA"/>
                </a:solidFill>
                <a:latin typeface="Calibri"/>
                <a:ea typeface="Calibri"/>
                <a:cs typeface="Calibri"/>
              </a:rPr>
              <a:t>A quieter hour, saved beside it</a:t>
            </a:r>
          </a:p>
        </p:txBody>
      </p:sp>
      <p:sp>
        <p:nvSpPr>
          <p:cNvPr id="5" name="Caption"/>
          <p:cNvSpPr txBox="1"/>
          <p:nvPr/>
        </p:nvSpPr>
        <p:spPr>
          <a:xfrm>
            <a:off x="384048" y="6144768"/>
            <a:ext cx="11338560" cy="56692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300" b="0" dirty="0">
                <a:solidFill>
                  <a:srgbClr val="8B969E"/>
                </a:solidFill>
                <a:latin typeface="Calibri"/>
                <a:ea typeface="Calibri"/>
                <a:cs typeface="Calibri"/>
              </a:rPr>
              <a:t>Severity set to low. The clock returns to T+00 and the dispatch clears. Saved again at T+15: 4.8 ha, 26 min clearance, 4% evacuated.</a:t>
            </a:r>
          </a:p>
        </p:txBody>
      </p:sp>
      <p:pic>
        <p:nvPicPr>
          <p:cNvPr id="6" name="07-two-sa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7067" y="749808"/>
            <a:ext cx="8245675" cy="5257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F6A3D"/>
          </a:solidFill>
        </p:spPr>
      </p:sp>
      <p:sp>
        <p:nvSpPr>
          <p:cNvPr id="3" name="Title"/>
          <p:cNvSpPr txBox="1"/>
          <p:nvPr/>
        </p:nvSpPr>
        <p:spPr>
          <a:xfrm>
            <a:off x="384048" y="201168"/>
            <a:ext cx="11338560" cy="43891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2600" b="1" dirty="0">
                <a:solidFill>
                  <a:srgbClr val="F4F1EA"/>
                </a:solidFill>
                <a:latin typeface="Calibri"/>
                <a:ea typeface="Calibri"/>
                <a:cs typeface="Calibri"/>
              </a:rPr>
              <a:t>The same minute, two hours</a:t>
            </a:r>
          </a:p>
        </p:txBody>
      </p:sp>
      <p:sp>
        <p:nvSpPr>
          <p:cNvPr id="5" name="Caption"/>
          <p:cNvSpPr txBox="1"/>
          <p:nvPr/>
        </p:nvSpPr>
        <p:spPr>
          <a:xfrm>
            <a:off x="384048" y="6144768"/>
            <a:ext cx="11338560" cy="56692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300" b="0" dirty="0">
                <a:solidFill>
                  <a:srgbClr val="8B969E"/>
                </a:solidFill>
                <a:latin typeface="Calibri"/>
                <a:ea typeface="Calibri"/>
                <a:cs typeface="Calibri"/>
              </a:rPr>
              <a:t>A is severe, B is low. The screen says the severe run has 300% more burned area. At T+15: 19.3 ha versus 4.8 ha, clearance 25 min versus 26 min, bottlenecks 3 versus 2, units 1 versus 0.</a:t>
            </a:r>
          </a:p>
        </p:txBody>
      </p:sp>
      <p:pic>
        <p:nvPicPr>
          <p:cNvPr id="6" name="08-comp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7067" y="749808"/>
            <a:ext cx="8245675" cy="5257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F6A3D"/>
          </a:solidFill>
        </p:spPr>
      </p:sp>
      <p:sp>
        <p:nvSpPr>
          <p:cNvPr id="3" name="Title"/>
          <p:cNvSpPr txBox="1"/>
          <p:nvPr/>
        </p:nvSpPr>
        <p:spPr>
          <a:xfrm>
            <a:off x="384048" y="201168"/>
            <a:ext cx="11338560" cy="43891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2600" b="1" dirty="0">
                <a:solidFill>
                  <a:srgbClr val="F4F1EA"/>
                </a:solidFill>
                <a:latin typeface="Calibri"/>
                <a:ea typeface="Calibri"/>
                <a:cs typeface="Calibri"/>
              </a:rPr>
              <a:t>The person who has to leave</a:t>
            </a:r>
          </a:p>
        </p:txBody>
      </p:sp>
      <p:sp>
        <p:nvSpPr>
          <p:cNvPr id="5" name="Caption"/>
          <p:cNvSpPr txBox="1"/>
          <p:nvPr/>
        </p:nvSpPr>
        <p:spPr>
          <a:xfrm>
            <a:off x="384048" y="6144768"/>
            <a:ext cx="11338560" cy="56692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300" b="0" dirty="0">
                <a:solidFill>
                  <a:srgbClr val="8B969E"/>
                </a:solidFill>
                <a:latin typeface="Calibri"/>
                <a:ea typeface="Calibri"/>
                <a:cs typeface="Calibri"/>
              </a:rPr>
              <a:t>Resident view. No units and no saved runs. Fire at 220 Ridgeline Drive, T+15. 570 residents are inside the fire, Ridgeline is on alert, and 53% have left.</a:t>
            </a:r>
          </a:p>
        </p:txBody>
      </p:sp>
      <p:pic>
        <p:nvPicPr>
          <p:cNvPr id="6" name="09-resid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7067" y="749808"/>
            <a:ext cx="8245675" cy="5257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F6A3D"/>
          </a:solidFill>
        </p:spPr>
      </p:sp>
      <p:sp>
        <p:nvSpPr>
          <p:cNvPr id="3" name="Kicker"/>
          <p:cNvSpPr txBox="1"/>
          <p:nvPr/>
        </p:nvSpPr>
        <p:spPr>
          <a:xfrm>
            <a:off x="502920" y="1234440"/>
            <a:ext cx="1078992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600" b="1" dirty="0">
                <a:solidFill>
                  <a:srgbClr val="FF6A3D"/>
                </a:solidFill>
                <a:latin typeface="Calibri"/>
                <a:ea typeface="Calibri"/>
                <a:cs typeface="Calibri"/>
              </a:rPr>
              <a:t>RESILIA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502920" y="1691640"/>
            <a:ext cx="10789920" cy="16459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3600" b="1" dirty="0">
                <a:solidFill>
                  <a:srgbClr val="F4F1EA"/>
                </a:solidFill>
                <a:latin typeface="Calibri"/>
                <a:ea typeface="Calibri"/>
                <a:cs typeface="Calibri"/>
              </a:rPr>
              <a:t>One hour, two questions</a:t>
            </a:r>
          </a:p>
        </p:txBody>
      </p:sp>
      <p:sp>
        <p:nvSpPr>
          <p:cNvPr id="5" name="Body"/>
          <p:cNvSpPr txBox="1"/>
          <p:nvPr/>
        </p:nvSpPr>
        <p:spPr>
          <a:xfrm>
            <a:off x="502920" y="3657600"/>
            <a:ext cx="10241280" cy="20116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800" b="0" dirty="0">
                <a:solidFill>
                  <a:srgbClr val="C5CDD4"/>
                </a:solidFill>
                <a:latin typeface="Calibri"/>
                <a:ea typeface="Calibri"/>
                <a:cs typeface="Calibri"/>
              </a:rPr>
              <a:t>The resident asks whether the road is still open, and which way leads to a safe place.</a:t>
            </a:r>
          </a:p>
          <a:p>
            <a:pPr algn="l"/>
            <a:r>
              <a:rPr lang="en-US" sz="1800" b="0" dirty="0">
                <a:solidFill>
                  <a:srgbClr val="C5CDD4"/>
                </a:solidFill>
                <a:latin typeface="Calibri"/>
                <a:ea typeface="Calibri"/>
                <a:cs typeface="Calibri"/>
              </a:rPr>
              <a:t>The authority asks who leaves, which road fails, and where the engine should go.</a:t>
            </a:r>
          </a:p>
          <a:p>
            <a:pPr algn="l"/>
            <a:r>
              <a:rPr lang="en-US" sz="1800" b="0" dirty="0">
                <a:solidFill>
                  <a:srgbClr val="C5CDD4"/>
                </a:solidFill>
                <a:latin typeface="Calibri"/>
                <a:ea typeface="Calibri"/>
                <a:cs typeface="Calibri"/>
              </a:rPr>
              <a:t>Cedar Ridge and this fire are demo data. This is a rehearsal of the hour, not a live forecast.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SILIA">
  <a:themeElements>
    <a:clrScheme name="RESILIA">
      <a:dk1>
        <a:srgbClr val="F4F1EA"/>
      </a:dk1>
      <a:lt1>
        <a:srgbClr val="0B0F14"/>
      </a:lt1>
      <a:dk2>
        <a:srgbClr val="C5CDD4"/>
      </a:dk2>
      <a:lt2>
        <a:srgbClr val="1A222B"/>
      </a:lt2>
      <a:accent1>
        <a:srgbClr val="FF6A3D"/>
      </a:accent1>
      <a:accent2>
        <a:srgbClr val="38BDF8"/>
      </a:accent2>
      <a:accent3>
        <a:srgbClr val="E0A83D"/>
      </a:accent3>
      <a:accent4>
        <a:srgbClr val="7D8B96"/>
      </a:accent4>
      <a:accent5>
        <a:srgbClr val="F4F1EA"/>
      </a:accent5>
      <a:accent6>
        <a:srgbClr val="8B969E"/>
      </a:accent6>
      <a:hlink>
        <a:srgbClr val="38BDF8"/>
      </a:hlink>
      <a:folHlink>
        <a:srgbClr val="8B969E"/>
      </a:folHlink>
    </a:clrScheme>
    <a:fontScheme name="RESILIA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RESILIA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6350">
          <a:solidFill>
            <a:schemeClr val="phClr"/>
          </a:solidFill>
        </a:ln>
        <a:ln w="63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RESILIA</Application>
  <Slides>10</Slides>
  <PresentationFormat>Widescreen</PresentationFormat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RESILIA</dc:title>
  <dc:subject>Cedar Ridge wildfire walkthrough</dc:subject>
  <dc:creator>RESILIA walkthrough</dc:creator>
  <cp:lastModifiedBy>RESILIA walkthrough</cp:lastModifiedBy>
</cp:coreProperties>
</file>